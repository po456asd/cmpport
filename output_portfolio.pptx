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820"/>
                </a:solidFill>
                <a:latin typeface="Calibri"/>
              </a:rPr>
              <a:t>CMP MANAGEMENT ASIA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5029200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Project Portfolio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9319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Calibri"/>
              </a:rPr>
              <a:t>CMP Management Asia – Selected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20251209_1646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71597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2B3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820"/>
                </a:solidFill>
                <a:latin typeface="Calibri"/>
              </a:rPr>
              <a:t>01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85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E8A820"/>
                </a:solidFill>
                <a:latin typeface="Calibri"/>
              </a:rPr>
              <a:t>CONSTRUCTION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4389120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23444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Atlas Super Club Ratchada Soi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7432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Super Night Club / Entertainment 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3337560"/>
            <a:ext cx="4389120" cy="18288"/>
          </a:xfrm>
          <a:prstGeom prst="rect">
            <a:avLst/>
          </a:prstGeom>
          <a:solidFill>
            <a:srgbClr val="5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3429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F"/>
                </a:solidFill>
                <a:latin typeface="Calibri"/>
              </a:rPr>
              <a:t>Client: HW Group Indonesia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3822191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F"/>
                </a:solidFill>
                <a:latin typeface="Calibri"/>
              </a:rPr>
              <a:t>Role: Design, Project Management, Construction Management &amp; QS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43525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20"/>
                </a:solidFill>
                <a:latin typeface="Calibri"/>
              </a:rPr>
              <a:t>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48272"/>
            <a:ext cx="12188952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=w_600,h_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71597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2B3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820"/>
                </a:solidFill>
                <a:latin typeface="Calibri"/>
              </a:rPr>
              <a:t>02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85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E8A820"/>
                </a:solidFill>
                <a:latin typeface="Calibri"/>
              </a:rPr>
              <a:t>CONSTRUCTION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4389120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23444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Quarter Hotel Ekkamai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7432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8-Storey Building + 1 Basement (Hotel)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3337560"/>
            <a:ext cx="4389120" cy="18288"/>
          </a:xfrm>
          <a:prstGeom prst="rect">
            <a:avLst/>
          </a:prstGeom>
          <a:solidFill>
            <a:srgbClr val="5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3429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F"/>
                </a:solidFill>
                <a:latin typeface="Calibri"/>
              </a:rPr>
              <a:t>Client: Urban 63 Company Limited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3822191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F"/>
                </a:solidFill>
                <a:latin typeface="Calibri"/>
              </a:rPr>
              <a:t>Role: Construction Management &amp; Quantity Surveying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43525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20"/>
                </a:solidFill>
                <a:latin typeface="Calibri"/>
              </a:rPr>
              <a:t>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48272"/>
            <a:ext cx="12188952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s=w_365,h_274,cg_tru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71597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2B3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820"/>
                </a:solidFill>
                <a:latin typeface="Calibri"/>
              </a:rPr>
              <a:t>03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85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E8A820"/>
                </a:solidFill>
                <a:latin typeface="Calibri"/>
              </a:rPr>
              <a:t>COMMERCIAL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4389120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23444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One Bangkok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7432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Substructure and Architectural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3337560"/>
            <a:ext cx="4389120" cy="18288"/>
          </a:xfrm>
          <a:prstGeom prst="rect">
            <a:avLst/>
          </a:prstGeom>
          <a:solidFill>
            <a:srgbClr val="5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3429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F"/>
                </a:solidFill>
                <a:latin typeface="Calibri"/>
              </a:rPr>
              <a:t>Client: Italian Thai Development Public Company Limited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3822191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F"/>
                </a:solidFill>
                <a:latin typeface="Calibri"/>
              </a:rPr>
              <a:t>Role: Contract &amp; Commercial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43525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20"/>
                </a:solidFill>
                <a:latin typeface="Calibri"/>
              </a:rPr>
              <a:t>2019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48272"/>
            <a:ext cx="12188952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p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71597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2B3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820"/>
                </a:solidFill>
                <a:latin typeface="Calibri"/>
              </a:rPr>
              <a:t>04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85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E8A820"/>
                </a:solidFill>
                <a:latin typeface="Calibri"/>
              </a:rPr>
              <a:t>RESIDENTIAL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4389120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23444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Teeraporn Clinic Bangkok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7432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6-Storey Medical Building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3337560"/>
            <a:ext cx="4389120" cy="18288"/>
          </a:xfrm>
          <a:prstGeom prst="rect">
            <a:avLst/>
          </a:prstGeom>
          <a:solidFill>
            <a:srgbClr val="5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3429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F"/>
                </a:solidFill>
                <a:latin typeface="Calibri"/>
              </a:rPr>
              <a:t>Client: Italian Thai Development Public Company Limited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3822191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F"/>
                </a:solidFill>
                <a:latin typeface="Calibri"/>
              </a:rPr>
              <a:t>Role: Internal Construction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43525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20"/>
                </a:solidFill>
                <a:latin typeface="Calibri"/>
              </a:rPr>
              <a:t>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48272"/>
            <a:ext cx="12188952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71597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2B3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820"/>
                </a:solidFill>
                <a:latin typeface="Calibri"/>
              </a:rPr>
              <a:t>05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85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E8A820"/>
                </a:solidFill>
                <a:latin typeface="Calibri"/>
              </a:rPr>
              <a:t>RESIDENTIAL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4389120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23444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KB Private Residence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7432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Structural Design &amp; Building Construction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3337560"/>
            <a:ext cx="4389120" cy="18288"/>
          </a:xfrm>
          <a:prstGeom prst="rect">
            <a:avLst/>
          </a:prstGeom>
          <a:solidFill>
            <a:srgbClr val="5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3429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F"/>
                </a:solidFill>
                <a:latin typeface="Calibri"/>
              </a:rPr>
              <a:t>Client: Dear Child Co.,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3822191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F"/>
                </a:solidFill>
                <a:latin typeface="Calibri"/>
              </a:rPr>
              <a:t>Role: Structural Design &amp; Building 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43525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20"/>
                </a:solidFill>
                <a:latin typeface="Calibri"/>
              </a:rPr>
              <a:t>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48272"/>
            <a:ext cx="12188952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onnak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71597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2B3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820"/>
                </a:solidFill>
                <a:latin typeface="Calibri"/>
              </a:rPr>
              <a:t>06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85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E8A820"/>
                </a:solidFill>
                <a:latin typeface="Calibri"/>
              </a:rPr>
              <a:t>RESIDENTIAL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4389120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23444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Boon Nak Residence Ubon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7432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Design &amp; Building Construction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3337560"/>
            <a:ext cx="4389120" cy="18288"/>
          </a:xfrm>
          <a:prstGeom prst="rect">
            <a:avLst/>
          </a:prstGeom>
          <a:solidFill>
            <a:srgbClr val="5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3429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F"/>
                </a:solidFill>
                <a:latin typeface="Calibri"/>
              </a:rPr>
              <a:t>Client: Boonnak Kanharin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3822191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F"/>
                </a:solidFill>
                <a:latin typeface="Calibri"/>
              </a:rPr>
              <a:t>Role: Contractor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43525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20"/>
                </a:solidFill>
                <a:latin typeface="Calibri"/>
              </a:rPr>
              <a:t>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48272"/>
            <a:ext cx="12188952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743200"/>
            <a:ext cx="5486400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From Vision to Guaranteed Reality. 30+ years of construction expertise across Asia.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93192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EFF"/>
                </a:solidFill>
                <a:latin typeface="Calibri"/>
              </a:rPr>
              <a:t>CMP Management Asia
www.cmpmanagementasia.com
contact@cmpmanagementasia.com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